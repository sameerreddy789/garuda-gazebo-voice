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45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HACKFUSION 2026  ·  IEEE ROBOTICS &amp; AUTOMATION SOCIETY  ·  THEME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1A1A2E"/>
                </a:solidFill>
                <a:latin typeface="Calibri"/>
              </a:defRPr>
            </a:pPr>
            <a:r>
              <a:t>GARUDA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55770"/>
                </a:solidFill>
                <a:latin typeface="Calibri"/>
              </a:defRPr>
            </a:pPr>
            <a:r>
              <a:t>A physics-informed digital twin that monitors a drone's health</a:t>
            </a:r>
            <a:br/>
            <a:r>
              <a:t>in real-time, predicts failures before they happen, and makes</a:t>
            </a:r>
            <a:br/>
            <a:r>
              <a:t>autonomous safety decisions it can explain.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563EB"/>
                </a:solidFill>
                <a:latin typeface="Calibri"/>
              </a:defRPr>
            </a:pPr>
            <a:r>
              <a:t>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B8DA3"/>
                </a:solidFill>
                <a:latin typeface="Calibri"/>
              </a:defRPr>
            </a:pPr>
            <a:r>
              <a:t>PHYSICS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420624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563EB"/>
                </a:solidFill>
                <a:latin typeface="Calibri"/>
              </a:defRPr>
            </a:pPr>
            <a:r>
              <a:t>6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B8DA3"/>
                </a:solidFill>
                <a:latin typeface="Calibri"/>
              </a:defRPr>
            </a:pPr>
            <a:r>
              <a:t>DECISION TIERS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420624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563EB"/>
                </a:solidFill>
                <a:latin typeface="Calibri"/>
              </a:defRPr>
            </a:pPr>
            <a:r>
              <a:t>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B8DA3"/>
                </a:solidFill>
                <a:latin typeface="Calibri"/>
              </a:defRPr>
            </a:pPr>
            <a:r>
              <a:t>KALMAN FILTERS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20624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563EB"/>
                </a:solidFill>
                <a:latin typeface="Calibri"/>
              </a:defRPr>
            </a:pPr>
            <a:r>
              <a:t>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B8DA3"/>
                </a:solidFill>
                <a:latin typeface="Calibri"/>
              </a:defRPr>
            </a:pPr>
            <a:r>
              <a:t>FAILURE DEMOS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69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8DA3"/>
                </a:solidFill>
                <a:latin typeface="Calibri"/>
              </a:defRPr>
            </a:pPr>
            <a:r>
              <a:t>Team GarudaOne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A1A2E"/>
                </a:solidFill>
                <a:latin typeface="Calibri"/>
              </a:defRPr>
            </a:pPr>
            <a:r>
              <a:t>Drones don't understand their own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55770"/>
                </a:solidFill>
                <a:latin typeface="Calibri"/>
              </a:defRPr>
            </a:pPr>
            <a:r>
              <a:t>A drone in turbulent wind burns more power. A hot battery loses capacity. A worn motor creates asymmetric thrust. Today's drones don't track any of this — they find out when they crash.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No energy awareness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Battery drains unpredictably under wind load. The drone doesn't know it can't make it home until it's already too late.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37744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Blind to atmosphere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Air density drops at altitude, turbulence varies with terrain, temperature affects everything. None of this is modeled.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37744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No component health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Motor bearings wear, batteries heat up, propellers degrade. No way to detect partial failure before it becomes total.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14800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2700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We need a system that continuously estimates the drone's physical state, predicts failures, quantifies how certain it is, and makes safety decisions it can justify.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114800"/>
            <a:ext cx="381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A1A2E"/>
                </a:solidFill>
                <a:latin typeface="Calibri"/>
              </a:defRPr>
            </a:pPr>
            <a:r>
              <a:t>Five physics modules running in a loop at 10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55770"/>
                </a:solidFill>
                <a:latin typeface="Calibri"/>
              </a:defRPr>
            </a:pPr>
            <a:r>
              <a:t>Each module feeds into the next. The decision engine evaluates the complete picture every 100 ms.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943600"/>
                <a:gridCol w="2468880"/>
              </a:tblGrid>
              <a:tr h="6858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B8DA3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B8DA3"/>
                          </a:solidFill>
                          <a:latin typeface="Calibri"/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B8DA3"/>
                          </a:solidFill>
                          <a:latin typeface="Calibri"/>
                        </a:defRPr>
                      </a:pPr>
                      <a:r>
                        <a:t>PHYSICS BASIS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Environment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Simulates wind, air density, temperature, pressure, turbulence as a function of altitude and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ICAO ISA + Dryden (O-U)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Vehicle 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Tracks battery temperature, charge state, per-motor efficiency, payload mass, structural G-stress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Thermal ODE + Coulomb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Energy Forecasting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Predicts power consumption, remaining flight time, mission feasibility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Actuator Disk Theory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State Estimator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Fuses physics predictions with noisy sensors. 95% confidence intervals on every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7× Kalman filters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Decision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Decides: continue, slow down, change altitude, return home, or abort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6-tier hierarchical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A1A2E"/>
                </a:solidFill>
                <a:latin typeface="Calibri"/>
              </a:defRPr>
            </a:pPr>
            <a:r>
              <a:t>How the pieces fit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0515600" cy="438912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DASHBOARD  (Rich TUI — 6 panels, 10 Hz refresh)                │</a:t>
            </a:r>
            <a:br/>
            <a:r>
              <a:t>│  Telemetry · Environment · Health · Energy · Uncertainty · AI    │</a:t>
            </a:r>
            <a:br/>
            <a:r>
              <a:t>└───────────────────────────────┬──────────────────────────────────┘</a:t>
            </a:r>
            <a:br/>
            <a:r>
              <a:t>                                │  JSON telemetry snapshots</a:t>
            </a:r>
            <a:br/>
            <a:r>
              <a:t>┌───────────────────────────────┴──────────────────────────────────┐</a:t>
            </a:r>
            <a:br/>
            <a:r>
              <a:t>│  DIGITAL TWIN ENGINE  (Python, 10 Hz main loop)                  │</a:t>
            </a:r>
            <a:br/>
            <a:r>
              <a:t>│                                                                   │</a:t>
            </a:r>
            <a:br/>
            <a:r>
              <a:t>│  ┌───────────────┐ ┌────────────────┐ ┌────────────────────────┐ │</a:t>
            </a:r>
            <a:br/>
            <a:r>
              <a:t>│  │ Environment    │ │ Vehicle Health │ │ Energy &amp; Endurance     │ │</a:t>
            </a:r>
            <a:br/>
            <a:r>
              <a:t>│  │ ISA + Dryden   │ │ Battery ODE    │ │ Actuator Disk Theory   │ │</a:t>
            </a:r>
            <a:br/>
            <a:r>
              <a:t>│  └───────┬───────┘ └───────┬────────┘ └──────────┬─────────────┘ │</a:t>
            </a:r>
            <a:br/>
            <a:r>
              <a:t>│          └─────────────────┼─────────────────────┘               │</a:t>
            </a:r>
            <a:br/>
            <a:r>
              <a:t>│                     ┌──────┴──────┐                               │</a:t>
            </a:r>
            <a:br/>
            <a:r>
              <a:t>│                     │ Kalman      │   7 state filters             │</a:t>
            </a:r>
            <a:br/>
            <a:r>
              <a:t>│                     │ Filter UQ   │   95% confidence bounds       │</a:t>
            </a:r>
            <a:br/>
            <a:r>
              <a:t>│                     └──────┬──────┘                               │</a:t>
            </a:r>
            <a:br/>
            <a:r>
              <a:t>│                     ┌──────┴──────┐                               │</a:t>
            </a:r>
            <a:br/>
            <a:r>
              <a:t>│                     │ DECISION    │   6-tier hierarchical engine  │</a:t>
            </a:r>
            <a:br/>
            <a:r>
              <a:t>│                     │ ENGINE      │   + evidence trail logger     │</a:t>
            </a:r>
            <a:br/>
            <a:r>
              <a:t>│                     └─────────────┘           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└───────────────────────────────────────────────────────────────────┘</a:t>
            </a:r>
            <a:br/>
            <a:r>
              <a:t>                                │  autonomous commands</a:t>
            </a:r>
            <a:br/>
            <a:r>
              <a:t>┌───────────────────────────────┴──────────────────────────────────┐</a:t>
            </a:r>
            <a:br/>
            <a:r>
              <a:t>│  FLIGHT LAYER   PX4 via MAVSDK · Voice ("Hey Garuda") · LFM AI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80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8DA3"/>
                </a:solidFill>
                <a:latin typeface="Calibri"/>
              </a:defRPr>
            </a:pPr>
            <a:r>
              <a:t>Fully async Python. Event-bus decoupled modules. 14 drone states with enforced transitions. Real hardware parameters from our 249g prototype.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PHYSICS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A1A2E"/>
                </a:solidFill>
                <a:latin typeface="Calibri"/>
              </a:defRPr>
            </a:pPr>
            <a:r>
              <a:t>Environment: atmosphere + wind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ICAO Standard Atmosphere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4572000" cy="59436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952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297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1A1A2E"/>
                </a:solidFill>
                <a:latin typeface="Consolas"/>
              </a:defRPr>
            </a:pPr>
            <a:r>
              <a:t>T(h) = 288.15 − 0.0065 · 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onsolas"/>
              </a:defRPr>
            </a:pPr>
            <a:r>
              <a:t>ρ(h) = 1.225 · (T / 288.15)^4.256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Air density drops with altitude — directly affects how much power the motors need to produce the same thrust. Recalculated every tick.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Dryden Wind Turbulence (MIL-F-8785C)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94760"/>
            <a:ext cx="4754880" cy="32004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952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1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onsolas"/>
              </a:defRPr>
            </a:pPr>
            <a:r>
              <a:t>x(t+dt) = x(t)·exp(−dt/τ) + σ·√(1−exp(−2dt/τ))·N(0,1)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519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Wind is random but correlated in time (τ=4s). Standard aerospace model. Vertical axis has 60% lower turbulence than horizontal.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Disturbances we inject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965960"/>
            <a:ext cx="4846320" cy="475488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Crosswind gust:  </a:t>
            </a:r>
            <a:r>
              <a:rPr sz="1100">
                <a:solidFill>
                  <a:srgbClr val="555770"/>
                </a:solidFill>
                <a:latin typeface="Calibri"/>
              </a:rPr>
              <a:t>12 m/s sudden lateral wind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514600"/>
            <a:ext cx="4846320" cy="475488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Temperature spike:  </a:t>
            </a:r>
            <a:r>
              <a:rPr sz="1100">
                <a:solidFill>
                  <a:srgbClr val="555770"/>
                </a:solidFill>
                <a:latin typeface="Calibri"/>
              </a:rPr>
              <a:t>+20°C (flying over a heat island)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063240"/>
            <a:ext cx="4846320" cy="475488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Downdraft:  </a:t>
            </a:r>
            <a:r>
              <a:rPr sz="1100">
                <a:solidFill>
                  <a:srgbClr val="555770"/>
                </a:solidFill>
                <a:latin typeface="Calibri"/>
              </a:rPr>
              <a:t>5 m/s vertical shear (microburst)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611880"/>
            <a:ext cx="4846320" cy="475488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ctr"/>
            <a:r>
              <a:rPr sz="1100" b="1">
                <a:solidFill>
                  <a:srgbClr val="1A1A2E"/>
                </a:solidFill>
                <a:latin typeface="Calibri"/>
              </a:rPr>
              <a:t>Wind shear layer:  </a:t>
            </a:r>
            <a:r>
              <a:rPr sz="1100">
                <a:solidFill>
                  <a:srgbClr val="555770"/>
                </a:solidFill>
                <a:latin typeface="Calibri"/>
              </a:rPr>
              <a:t>Altitude-dependent velocity gradient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519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Each disturbance is a single function call. The decision engine reacts within the same tick.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PHYSICS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Vehicle health + energy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Battery: thermal ODE + Coulomb counting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4754880" cy="32004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952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476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onsolas"/>
              </a:defRPr>
            </a:pPr>
            <a:r>
              <a:t>dT/dt = (I²R − h·A·ΔT) / (m·Cp)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Battery heats from internal resistance (I²R) and cools from airflow. LiPo capacity drops with temperature — a hot battery gives you less flight time than voltage suggests. Real 3S/450mAh pack params.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Motor degradation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4 motors tracked independently. Bearing wear at 15%/1000h. Delta between best and worst motor (imbalance) is a key safety signal.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Power: Actuator Disk Momentum Theory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920240"/>
            <a:ext cx="4754880" cy="50292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952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47672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1A1A2E"/>
                </a:solidFill>
                <a:latin typeface="Consolas"/>
              </a:defRPr>
            </a:pPr>
            <a:r>
              <a:t>P_hover = √(T³ / 2ρA) · κ / η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Consolas"/>
              </a:defRPr>
            </a:pPr>
            <a:r>
              <a:t>P_fwd = P_hover·f(v) + ½ρCdAv³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Hover power depends on thrust, air density, disk area (4× 2-inch props), and rotor efficiency. Forward flight adds parasitic drag. All from real hardware config.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38328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Safe operating envelope (dynamic)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033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•  Max altitude (density-limited)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•  Max speed (rotor-efficiency-limited)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•  Max range at cruise speed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•  Can we reach target, return home, and keep 30s reserve?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UNCERTAINTY QUANTIFICATION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A1A2E"/>
                </a:solidFill>
                <a:latin typeface="Calibri"/>
              </a:defRPr>
            </a:pPr>
            <a:r>
              <a:t>Kalman filter: physics meets sensors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55770"/>
                </a:solidFill>
                <a:latin typeface="Calibri"/>
              </a:defRPr>
            </a:pPr>
            <a:r>
              <a:t>Physics models predict what should happen. Sensors measure what actually happened. The Kalman filter finds the best estimate and tells you how confident it 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5029200" cy="256032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754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1A2E"/>
                </a:solidFill>
                <a:latin typeface="Consolas"/>
              </a:defRPr>
            </a:pPr>
            <a:r>
              <a:t>Predict (from physics model):</a:t>
            </a:r>
            <a:br/>
            <a:r>
              <a:t>  x̂ = model_prediction(alt, speed, wind)</a:t>
            </a:r>
            <a:br/>
            <a:r>
              <a:t>  P += Q · dt            ← uncertainty grows</a:t>
            </a:r>
            <a:br/>
            <a:br/>
            <a:r>
              <a:t>Update (from noisy sensor):</a:t>
            </a:r>
            <a:br/>
            <a:r>
              <a:t>  K = P / (P + R)        ← Kalman gain</a:t>
            </a:r>
            <a:br/>
            <a:r>
              <a:t>  x̂ += K · (z − x̂)      ← fuse measurement</a:t>
            </a:r>
            <a:br/>
            <a:r>
              <a:t>  P = (1 − K) · P        ← uncertainty shrinks</a:t>
            </a:r>
            <a:br/>
            <a:br/>
            <a:r>
              <a:t>Output:</a:t>
            </a:r>
            <a:br/>
            <a:r>
              <a:t>  estimate ± 2σ           ← 95% confidence band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7 independent filters tracking: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377440"/>
          <a:ext cx="47548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94560"/>
              </a:tblGrid>
              <a:tr h="35269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B8DA3"/>
                          </a:solidFill>
                          <a:latin typeface="Calibri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B8DA3"/>
                          </a:solidFill>
                          <a:latin typeface="Calibri"/>
                        </a:defRPr>
                      </a:pPr>
                      <a:r>
                        <a:t>SENSOR NOISE (σ)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Position N, 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GPS: 0.25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Altitude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Barometer: 0.25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Airspeed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Pitot: 0.20 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Wind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Inferred: 0.40 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Battery SoC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Current sensor: 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9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Endurance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Derived: ±25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The decision engine uses uncertainty to calibrate how aggressive its responses 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AUTONOMOUS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A1A2E"/>
                </a:solidFill>
                <a:latin typeface="Calibri"/>
              </a:defRPr>
            </a:pPr>
            <a:r>
              <a:t>6-tier hierarchical safety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55770"/>
                </a:solidFill>
                <a:latin typeface="Calibri"/>
              </a:defRPr>
            </a:pPr>
            <a:r>
              <a:t>Evaluates from most severe to least. Stops at the first tier that triggers. Every decision carries an evidence trail.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685800" cy="475488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800" b="1">
                <a:solidFill>
                  <a:srgbClr val="FFFFFF"/>
                </a:solidFill>
                <a:latin typeface="Calibri"/>
              </a:rPr>
              <a:t>ABORT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81912" y="2011680"/>
            <a:ext cx="9756648" cy="475488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l"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Emergency landing — immediate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770"/>
                </a:solidFill>
                <a:latin typeface="Calibri"/>
              </a:defRPr>
            </a:pPr>
            <a:r>
              <a:t>Battery ≥ 60°C · rotor eff &lt; 30% · structural stress exceeded · endurance &lt; 45s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78608"/>
            <a:ext cx="685800" cy="475488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800" b="1">
                <a:solidFill>
                  <a:srgbClr val="FFFFFF"/>
                </a:solidFill>
                <a:latin typeface="Calibri"/>
              </a:rPr>
              <a:t>RTB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81912" y="2578608"/>
            <a:ext cx="9756648" cy="475488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l"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Return to base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770"/>
                </a:solidFill>
                <a:latin typeface="Calibri"/>
              </a:defRPr>
            </a:pPr>
            <a:r>
              <a:t>Not enough energy for RTH · SoC ≤ 18% · battery ≥ 50°C · motor degradation · wind ≥ 8.5 m/s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145536"/>
            <a:ext cx="685800" cy="475488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800" b="1">
                <a:solidFill>
                  <a:srgbClr val="FFFFFF"/>
                </a:solidFill>
                <a:latin typeface="Calibri"/>
              </a:rPr>
              <a:t>ALT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81912" y="3145536"/>
            <a:ext cx="9756648" cy="475488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l"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Change altitude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770"/>
                </a:solidFill>
                <a:latin typeface="Calibri"/>
              </a:defRPr>
            </a:pPr>
            <a:r>
              <a:t>Air density too thin at current height · vertical downdraft ≥ 3 m/s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12464"/>
            <a:ext cx="685800" cy="475488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800" b="1">
                <a:solidFill>
                  <a:srgbClr val="FFFFFF"/>
                </a:solidFill>
                <a:latin typeface="Calibri"/>
              </a:rPr>
              <a:t>SLOW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81912" y="3712464"/>
            <a:ext cx="9756648" cy="475488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l"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Reduce speed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770"/>
                </a:solidFill>
                <a:latin typeface="Calibri"/>
              </a:defRPr>
            </a:pPr>
            <a:r>
              <a:t>Turbulence intensity ≥ 0.50 · crosswind ≥ 5.5 m/s · rotor imbalance ≥ 0.15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79392"/>
            <a:ext cx="685800" cy="47548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800" b="1">
                <a:solidFill>
                  <a:srgbClr val="FFFFFF"/>
                </a:solidFill>
                <a:latin typeface="Calibri"/>
              </a:rPr>
              <a:t>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81912" y="4279392"/>
            <a:ext cx="9756648" cy="475488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l"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Modify trajectory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770"/>
                </a:solidFill>
                <a:latin typeface="Calibri"/>
              </a:defRPr>
            </a:pPr>
            <a:r>
              <a:t>Headwind ≥ 60% of airspeed — reroute to save energy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846320"/>
            <a:ext cx="685800" cy="475488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800" b="1">
                <a:solidFill>
                  <a:srgbClr val="FFFFFF"/>
                </a:solidFill>
                <a:latin typeface="Calibri"/>
              </a:rPr>
              <a:t>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81912" y="4846320"/>
            <a:ext cx="9756648" cy="475488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l">
              <a:spcBef>
                <a:spcPts val="0"/>
              </a:spcBef>
              <a:spcAft>
                <a:spcPts val="10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Continue mission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770"/>
                </a:solidFill>
                <a:latin typeface="Calibri"/>
              </a:defRPr>
            </a:pPr>
            <a:r>
              <a:t>All parameters nominal. Confidence: 96%.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8DA3"/>
                </a:solidFill>
                <a:latin typeface="Calibri"/>
              </a:defRPr>
            </a:pPr>
            <a:r>
              <a:t>Every decision record includes: trigger parameter + value + threshold, confidence score, physics snapshot, and alternatives considered but rejected.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A1A2E"/>
                </a:solidFill>
                <a:latin typeface="Calibri"/>
              </a:defRPr>
            </a:pPr>
            <a:r>
              <a:t>5 failure scenarios, tested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55770"/>
                </a:solidFill>
                <a:latin typeface="Calibri"/>
              </a:defRPr>
            </a:pPr>
            <a:r>
              <a:t>We inject each disturbance during the simulation and show the decision engine reacting in real-time with evidence.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926080"/>
                <a:gridCol w="2011680"/>
              </a:tblGrid>
              <a:tr h="5334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B8DA3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B8DA3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B8DA3"/>
                          </a:solidFill>
                          <a:latin typeface="Calibri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12 m/s crosswind gust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REDUCE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Motor #3 bearing failure (35%)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SLOW → RTB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Battery overheating (58°C)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ABORT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Payload released mid-flight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CONTINUE (re-calc)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Downdraft + thin air + low battery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ALTER ALT → RTB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201168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Evidence trail (actual output)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377440"/>
            <a:ext cx="4846320" cy="301752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468880"/>
            <a:ext cx="457200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onsolas"/>
              </a:defRPr>
            </a:pPr>
            <a:r>
              <a:t>{</a:t>
            </a:r>
            <a:br/>
            <a:r>
              <a:t>  "decision": "RETURN_TO_BASE",</a:t>
            </a:r>
            <a:br/>
            <a:r>
              <a:t>  "confidence": 0.92,</a:t>
            </a:r>
            <a:br/>
            <a:r>
              <a:t>  "triggers": [{</a:t>
            </a:r>
            <a:br/>
            <a:r>
              <a:t>    "parameter": "battery_soc",</a:t>
            </a:r>
            <a:br/>
            <a:r>
              <a:t>    "value": 16.2,</a:t>
            </a:r>
            <a:br/>
            <a:r>
              <a:t>    "threshold": 18.0,</a:t>
            </a:r>
            <a:br/>
            <a:r>
              <a:t>    "severity": "WARNING"</a:t>
            </a:r>
            <a:br/>
            <a:r>
              <a:t>  }],</a:t>
            </a:r>
            <a:br/>
            <a:r>
              <a:t>  "reason": "Energy reserve</a:t>
            </a:r>
            <a:br/>
            <a:r>
              <a:t>    insufficient for safe RTH.",</a:t>
            </a:r>
            <a:br/>
            <a:r>
              <a:t>  "physics_snapshot": {</a:t>
            </a:r>
            <a:br/>
            <a:r>
              <a:t>    "wind_speed": 7.3,</a:t>
            </a:r>
            <a:br/>
            <a:r>
              <a:t>    "hover_power": 28.4,</a:t>
            </a:r>
            <a:br/>
            <a:r>
              <a:t>    "rotor_effs": [.89,.88,.58,.90]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INNOVATION BEYOND THE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A1A2E"/>
                </a:solidFill>
                <a:latin typeface="Calibri"/>
              </a:defRPr>
            </a:pPr>
            <a:r>
              <a:t>"Hey Garuda" — voice-controlled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55770"/>
                </a:solidFill>
                <a:latin typeface="Calibri"/>
              </a:defRPr>
            </a:pPr>
            <a:r>
              <a:t>Fully offline voice pipeline. No cloud, no internet — everything on-device. Think Siri, but for a drone.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Voice pipeline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395728"/>
            <a:ext cx="256032" cy="256032"/>
          </a:xfrm>
          <a:prstGeom prst="ellipse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Wake word — openWakeWord listens for "Garuda" (3-8% CPU)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779776"/>
            <a:ext cx="256032" cy="256032"/>
          </a:xfrm>
          <a:prstGeom prst="ellipse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614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Speech-to-text — Whisper Tiny (INT8, 39 MB)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163824"/>
            <a:ext cx="256032" cy="256032"/>
          </a:xfrm>
          <a:prstGeom prst="ellipse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455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Intent routing — keyword (&lt;5ms), Needle 26M (&lt;20ms), LFM (200ms)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47872"/>
            <a:ext cx="256032" cy="256032"/>
          </a:xfrm>
          <a:prstGeom prst="ellipse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95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Voice feedback — Piper TTS: "Starting orbit mode"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050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8DA3"/>
                </a:solidFill>
                <a:latin typeface="Calibri"/>
              </a:defRPr>
            </a:pPr>
            <a:r>
              <a:t>Most commands resolve in under 20 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AI models on a Raspberry Pi 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0" y="2377440"/>
          <a:ext cx="48463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914400"/>
                <a:gridCol w="1371600"/>
              </a:tblGrid>
              <a:tr h="411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B8DA3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B8DA3"/>
                          </a:solidFill>
                          <a:latin typeface="Calibri"/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B8DA3"/>
                          </a:solidFill>
                          <a:latin typeface="Calibri"/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LFM-2.5-230M (Liquid AI brain)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180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42 tok/s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Needle 26M (fast router)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14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1,200 tok/s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PicoDet-S (object detection)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4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50 FPS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Whisper Tiny (speech-to-text)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39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Real-time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Piper TTS (text-to-speech)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20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Real-time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00800" y="5029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8DA3"/>
                </a:solidFill>
                <a:latin typeface="Calibri"/>
              </a:defRPr>
            </a:pPr>
            <a:r>
              <a:t>All CPU-only on RPi 5 (8 GB). No GPU. Drone weighs 249g.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A1A2E"/>
                </a:solidFill>
                <a:latin typeface="Calibri"/>
              </a:defRPr>
            </a:pPr>
            <a:r>
              <a:t>6 panels, all updating at 10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55770"/>
                </a:solidFill>
                <a:latin typeface="Calibri"/>
              </a:defRPr>
            </a:pPr>
            <a:r>
              <a:t>Built with Python's Rich library. Reads telemetry JSON from the twin runner.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3383280" cy="100584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Telemetry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Altitude, airspeed, heading, GPS, distance to target/home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65960"/>
            <a:ext cx="3383280" cy="100584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Environment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ISA density, temperature, pressure, wind vector, turbulence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965960"/>
            <a:ext cx="3383280" cy="1005840"/>
          </a:xfrm>
          <a:prstGeom prst="roundRect">
            <a:avLst>
              <a:gd name="adj" fmla="val 4000"/>
            </a:avLst>
          </a:prstGeom>
          <a:solidFill>
            <a:srgbClr val="FDF4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Vehicle Health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Battery SoC + temp, 4× motor bars, structural stress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3383280" cy="100584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Energy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Power draw, hover/cruise power, endurance countdown, envelope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108960"/>
            <a:ext cx="3383280" cy="100584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Uncertainty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Every Kalman estimate with ±2σ confidence bounds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108960"/>
            <a:ext cx="3383280" cy="100584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Decision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Current action, confidence %, trigger reason, alternatives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9768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2700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During the demo we inject failure scenarios live and watch all 6 panels react. The decision panel shows exactly why the engine made its choice.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297680"/>
            <a:ext cx="3810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A1A2E"/>
                </a:solidFill>
                <a:latin typeface="Calibri"/>
              </a:defRPr>
            </a:pPr>
            <a:r>
              <a:t>How we address each judging criterion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463040"/>
          <a:ext cx="1051559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7498079"/>
              </a:tblGrid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B8DA3"/>
                          </a:solidFill>
                          <a:latin typeface="Calibri"/>
                        </a:defRPr>
                      </a:pPr>
                      <a:r>
                        <a:t>CRITERION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B8DA3"/>
                          </a:solidFill>
                          <a:latin typeface="Calibri"/>
                        </a:defRPr>
                      </a:pPr>
                      <a:r>
                        <a:t>OUR IMPLEMENTATION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Physical-state estimation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7 Kalman filters fusing ISA physics with sensors. Each state has 95% CI bounds.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Environmental modeling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ICAO atmosphere + Dryden wind turbulence (O-U process) + 4 injectable disturbances.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Energy/endurance 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Actuator disk power with real hardware params. Mission feasibility: target + RTH + 30s reserve.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Safety decision effectiveness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6-tier engine with confidence scores. Evidence trail for every decision. 5 failure scenarios.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Robustness under changing conditions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Crosswind, motor failure, thermal runaway, payload change, combined — all real-time.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Physics/ML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Kalman = physics+sensors. CfC LNN = learned control. LFM = NL understanding. Voice = ML chain.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Innovation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555770"/>
                          </a:solidFill>
                          <a:latin typeface="Calibri"/>
                        </a:defRPr>
                      </a:pPr>
                      <a:r>
                        <a:t>Voice-controlled twin, Liquid AI, evidence audit trails, real sub-250g hardware parameters.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A1A2E"/>
                </a:solidFill>
                <a:latin typeface="Calibri"/>
              </a:defRPr>
            </a:pPr>
            <a:r>
              <a:t>Future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55770"/>
                </a:solidFill>
                <a:latin typeface="Calibri"/>
              </a:defRPr>
            </a:pPr>
            <a:r>
              <a:t>The modular architecture means each piece can be upgraded independently.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3383280" cy="114300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Voice biometrics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Owner + 2 registered voices only. Speaker verification rejects unauthorized commands.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65960"/>
            <a:ext cx="3383280" cy="11430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Satellite connectivity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Iridium/Starlink backhaul for beyond-line-of-sight. Cloud twin mirroring.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965960"/>
            <a:ext cx="3383280" cy="11430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Multi-drone swarm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PX4 multi-SITL already configured. Coordinated formation flying.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3383280" cy="1143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Edge SLAM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OpenVINS / ORB-SLAM3 via VisionPoseSource interface. Already defined.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246120"/>
            <a:ext cx="3383280" cy="1143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RL decision refinement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770"/>
                </a:solidFill>
                <a:latin typeface="Calibri"/>
              </a:defRPr>
            </a:pPr>
            <a:r>
              <a:t>Flight data tunes thresholds via RL. Physics constraints stay, RL tunes margins.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2801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GARUDA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737360"/>
            <a:ext cx="9144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  <a:defRPr sz="3600" b="1">
                <a:solidFill>
                  <a:srgbClr val="1A1A2E"/>
                </a:solidFill>
                <a:latin typeface="Calibri"/>
              </a:defRPr>
            </a:pPr>
            <a:r>
              <a:t>It doesn't just simulate the drone.</a:t>
            </a:r>
            <a:br/>
            <a:r>
              <a:t>It understands the physics.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55770"/>
                </a:solidFill>
                <a:latin typeface="Calibri"/>
              </a:defRPr>
            </a:pPr>
            <a:r>
              <a:t>Real equations. Real hardware parameters.</a:t>
            </a:r>
            <a:br/>
            <a:r>
              <a:t>Real-time decisions with evidence you can audit.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563EB"/>
                </a:solidFill>
                <a:latin typeface="Calibri"/>
              </a:defRPr>
            </a:pPr>
            <a:r>
              <a:t>7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B8DA3"/>
                </a:solidFill>
                <a:latin typeface="Calibri"/>
              </a:defRPr>
            </a:pPr>
            <a:r>
              <a:t>PHYSICS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365760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563EB"/>
                </a:solidFill>
                <a:latin typeface="Calibri"/>
              </a:defRPr>
            </a:pPr>
            <a:r>
              <a:t>6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B8DA3"/>
                </a:solidFill>
                <a:latin typeface="Calibri"/>
              </a:defRPr>
            </a:pPr>
            <a:r>
              <a:t>SAFETY 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365760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563EB"/>
                </a:solidFill>
                <a:latin typeface="Calibri"/>
              </a:defRPr>
            </a:pPr>
            <a:r>
              <a:t>7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B8DA3"/>
                </a:solidFill>
                <a:latin typeface="Calibri"/>
              </a:defRPr>
            </a:pPr>
            <a:r>
              <a:t>KALMAN FILTERS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365760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563EB"/>
                </a:solidFill>
                <a:latin typeface="Calibri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B8DA3"/>
                </a:solidFill>
                <a:latin typeface="Calibri"/>
              </a:defRPr>
            </a:pPr>
            <a:r>
              <a:t>LIVE SCENARIOS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365760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563EB"/>
                </a:solidFill>
                <a:latin typeface="Calibri"/>
              </a:defRPr>
            </a:pPr>
            <a:r>
              <a:t>&lt;20ms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B8DA3"/>
                </a:solidFill>
                <a:latin typeface="Calibri"/>
              </a:defRPr>
            </a:pPr>
            <a:r>
              <a:t>VOICE 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937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55770"/>
                </a:solidFill>
                <a:latin typeface="Calibri"/>
              </a:defRPr>
            </a:pPr>
            <a:r>
              <a:t>Team GarudaOne  ·  HackFusion 2026  ·  IEEE 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4864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8DA3"/>
                </a:solidFill>
                <a:latin typeface="Calibri"/>
              </a:defRPr>
            </a:pPr>
            <a:r>
              <a:t>"Hey Garuda, take off."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